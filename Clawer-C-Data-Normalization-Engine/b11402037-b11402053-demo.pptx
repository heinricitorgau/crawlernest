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8368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40">
                <a:solidFill>
                  <a:srgbClr val="3FD0B6"/>
                </a:solidFill>
                <a:latin typeface="Consolas"/>
                <a:ea typeface="Microsoft JhengHei"/>
              </a:rPr>
              <a:t>C PROGRAMMING · C 程式設計 — TERM PROJECT DEMO 專題展示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FFFFFF"/>
                </a:solidFill>
                <a:latin typeface="Microsoft JhengHei"/>
                <a:ea typeface="Microsoft JhengHei"/>
              </a:rPr>
              <a:t>Clawer C Data Normalization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01952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CADCFC"/>
                </a:solidFill>
                <a:latin typeface="Microsoft JhengHei"/>
                <a:ea typeface="Microsoft JhengHei"/>
              </a:rPr>
              <a:t>C 語言大學排名資料正規化引擎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871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7E93A8"/>
                </a:solidFill>
                <a:latin typeface="Microsoft JhengHei"/>
                <a:ea typeface="Microsoft JhengHei"/>
              </a:rPr>
              <a:t>將異質爬蟲輸出（名稱／國家／排名／分數）轉換為可直接比較的標準化紀錄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101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40">
                <a:solidFill>
                  <a:srgbClr val="3FD0B6"/>
                </a:solidFill>
                <a:latin typeface="Consolas"/>
                <a:ea typeface="Microsoft JhengHei"/>
              </a:rPr>
              <a:t>TEAM · 組員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75887"/>
            <a:ext cx="4297680" cy="640080"/>
          </a:xfrm>
          <a:prstGeom prst="roundRect">
            <a:avLst>
              <a:gd name="adj" fmla="val 10000"/>
            </a:avLst>
          </a:prstGeom>
          <a:solidFill>
            <a:srgbClr val="22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794759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FD0B6"/>
                </a:solidFill>
                <a:latin typeface="Consolas"/>
                <a:ea typeface="Microsoft JhengHei"/>
              </a:rPr>
              <a:t>b11402037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794759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</a:rPr>
              <a:t>高恩在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62272"/>
            <a:ext cx="4297680" cy="640080"/>
          </a:xfrm>
          <a:prstGeom prst="roundRect">
            <a:avLst>
              <a:gd name="adj" fmla="val 10000"/>
            </a:avLst>
          </a:prstGeom>
          <a:solidFill>
            <a:srgbClr val="22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581144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FD0B6"/>
                </a:solidFill>
                <a:latin typeface="Consolas"/>
                <a:ea typeface="Microsoft JhengHei"/>
              </a:rPr>
              <a:t>b11402053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4581144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</a:rPr>
              <a:t>林秉學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310128"/>
            <a:ext cx="5303520" cy="2286000"/>
          </a:xfrm>
          <a:prstGeom prst="roundRect">
            <a:avLst>
              <a:gd name="adj" fmla="val 4500"/>
            </a:avLst>
          </a:prstGeom>
          <a:solidFill>
            <a:srgbClr val="15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99631" y="3438144"/>
            <a:ext cx="82296" cy="82296"/>
          </a:xfrm>
          <a:prstGeom prst="ellipse">
            <a:avLst/>
          </a:prstGeom>
          <a:solidFill>
            <a:srgbClr val="E57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5079" y="3438144"/>
            <a:ext cx="82296" cy="82296"/>
          </a:xfrm>
          <a:prstGeom prst="ellipse">
            <a:avLst/>
          </a:prstGeom>
          <a:solidFill>
            <a:srgbClr val="E5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10527" y="3438144"/>
            <a:ext cx="82296" cy="82296"/>
          </a:xfrm>
          <a:prstGeom prst="ellips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639312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3E0C3"/>
                </a:solidFill>
                <a:latin typeface="Consolas"/>
                <a:ea typeface="Microsoft JhengHei"/>
              </a:rPr>
              <a:t>$ make run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==== Clawer C Data Normalization Engine ====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1. 載入   2. 正規化   3. 匯出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3E0C3"/>
                </a:solidFill>
                <a:latin typeface="Consolas"/>
                <a:ea typeface="Microsoft JhengHei"/>
              </a:rPr>
              <a:t>$ make test_all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Passed: 602 / 602 — All tests passed.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1996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E93A8"/>
                </a:solidFill>
                <a:latin typeface="Consolas"/>
                <a:ea typeface="Microsoft JhengHei"/>
              </a:rPr>
              <a:t>Demo：2026.06.18 – 06.20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0E8C8B"/>
                </a:solidFill>
                <a:latin typeface="Consolas"/>
                <a:ea typeface="Microsoft JhengHei"/>
              </a:rPr>
              <a:t>01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303F"/>
                </a:solidFill>
                <a:latin typeface="Microsoft JhengHei"/>
                <a:ea typeface="Microsoft JhengHei"/>
              </a:rPr>
              <a:t>簡介 — 背景、動機與研究問題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27048"/>
            <a:ext cx="118872" cy="118872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4018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303F"/>
                </a:solidFill>
                <a:latin typeface="Microsoft JhengHei"/>
                <a:ea typeface="Microsoft JhengHei"/>
              </a:rPr>
              <a:t>背景與動機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94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上游爬蟲系統自 QS、THE、Shanghai Ranking 等多個排名來源抓取資料，輸出格式高度異質，無法直接進行跨來源比較與分析。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78608"/>
            <a:ext cx="5394960" cy="786384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67004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8C8B"/>
                </a:solidFill>
                <a:latin typeface="Microsoft JhengHei"/>
                <a:ea typeface="Microsoft JhengHei"/>
              </a:rPr>
              <a:t>大學名稱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670048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303F"/>
                </a:solidFill>
                <a:latin typeface="Consolas"/>
                <a:ea typeface="Microsoft JhengHei"/>
              </a:rPr>
              <a:t>MIT · "University of   California… (UCB)"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99923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大小寫不一、縮寫、標點與空白差異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5394960" cy="786384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566160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8C8B"/>
                </a:solidFill>
                <a:latin typeface="Microsoft JhengHei"/>
                <a:ea typeface="Microsoft JhengHei"/>
              </a:rPr>
              <a:t>國家名稱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356616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303F"/>
                </a:solidFill>
                <a:latin typeface="Consolas"/>
                <a:ea typeface="Microsoft JhengHei"/>
              </a:rPr>
              <a:t>U.S.A. · UK · PR China · The Netherlands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89534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縮寫、官方長名、「The X」前綴變體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94960" cy="786384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4462271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8C8B"/>
                </a:solidFill>
                <a:latin typeface="Microsoft JhengHei"/>
                <a:ea typeface="Microsoft JhengHei"/>
              </a:rPr>
              <a:t>排名格式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4462271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303F"/>
                </a:solidFill>
                <a:latin typeface="Consolas"/>
                <a:ea typeface="Microsoft JhengHei"/>
              </a:rPr>
              <a:t>53 · 101-150 · Top 100 · =201 · #10 · 201+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791455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純數字、區間、多種文字前綴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66944"/>
            <a:ext cx="5394960" cy="786384"/>
          </a:xfrm>
          <a:prstGeom prst="roundRect">
            <a:avLst>
              <a:gd name="adj" fmla="val 8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5358383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8C8B"/>
                </a:solidFill>
                <a:latin typeface="Microsoft JhengHei"/>
                <a:ea typeface="Microsoft JhengHei"/>
              </a:rPr>
              <a:t>分數欄位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5358383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22303F"/>
                </a:solidFill>
                <a:latin typeface="Consolas"/>
                <a:ea typeface="Microsoft JhengHei"/>
              </a:rPr>
              <a:t>" 91.7 " · ".5" · "" · "N/A"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568756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空白、前導小數點、無效值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527048"/>
            <a:ext cx="118872" cy="118872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1696" y="144018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303F"/>
                </a:solidFill>
                <a:latin typeface="Microsoft JhengHei"/>
                <a:ea typeface="Microsoft JhengHei"/>
              </a:rPr>
              <a:t>研究問題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1828800"/>
            <a:ext cx="5029200" cy="1335024"/>
          </a:xfrm>
          <a:prstGeom prst="roundRect">
            <a:avLst>
              <a:gd name="adj" fmla="val 6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1828800"/>
            <a:ext cx="64008" cy="1335024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59" y="1993392"/>
            <a:ext cx="4526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2303F"/>
                </a:solidFill>
                <a:latin typeface="Microsoft JhengHei"/>
                <a:ea typeface="Microsoft JhengHei"/>
              </a:rPr>
              <a:t>在不修改下游分析邏輯的前提下，如何將異質性爬蟲輸出轉換為可直接比較的數值紀錄？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538727"/>
            <a:ext cx="118872" cy="118872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1696" y="345186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303F"/>
                </a:solidFill>
                <a:latin typeface="Microsoft JhengHei"/>
                <a:ea typeface="Microsoft JhengHei"/>
              </a:rPr>
              <a:t>設計選擇 — 為何用 C？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858768"/>
            <a:ext cx="5029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20000"/>
              </a:lnSpc>
              <a:spcAft>
                <a:spcPts val="800"/>
              </a:spcAft>
              <a:buClr>
                <a:srgbClr val="0E8C8B"/>
              </a:buClr>
              <a:buFont typeface="Arial"/>
              <a:buChar char="▪"/>
            </a:pPr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以 </a:t>
            </a:r>
            <a:r>
              <a:rPr sz="1250" b="1" i="0">
                <a:solidFill>
                  <a:srgbClr val="0E8C8B"/>
                </a:solidFill>
                <a:latin typeface="Consolas"/>
                <a:ea typeface="Microsoft JhengHei"/>
              </a:rPr>
              <a:t>C11（gcc -Wall -Wextra）</a:t>
            </a:r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 實作核心引擎，而非 Python / pandas</a:t>
            </a:r>
          </a:p>
          <a:p>
            <a:pPr algn="l" marL="164592" indent="-164592">
              <a:lnSpc>
                <a:spcPct val="120000"/>
              </a:lnSpc>
              <a:spcAft>
                <a:spcPts val="800"/>
              </a:spcAft>
              <a:buClr>
                <a:srgbClr val="0E8C8B"/>
              </a:buClr>
              <a:buFont typeface="Arial"/>
              <a:buChar char="▪"/>
            </a:pPr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大量 CSV 批次處理時維持低記憶體佔用與可預期的執行時間</a:t>
            </a:r>
          </a:p>
          <a:p>
            <a:pPr algn="l" marL="164592" indent="-164592">
              <a:lnSpc>
                <a:spcPct val="120000"/>
              </a:lnSpc>
              <a:spcAft>
                <a:spcPts val="800"/>
              </a:spcAft>
              <a:buClr>
                <a:srgbClr val="0E8C8B"/>
              </a:buClr>
              <a:buFont typeface="Arial"/>
              <a:buChar char="▪"/>
            </a:pPr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無 Python 執行期依賴，便於與上游爬蟲管線部署整合</a:t>
            </a:r>
          </a:p>
          <a:p>
            <a:pPr algn="l" marL="164592" indent="-164592">
              <a:lnSpc>
                <a:spcPct val="120000"/>
              </a:lnSpc>
              <a:buClr>
                <a:srgbClr val="0E8C8B"/>
              </a:buClr>
              <a:buFont typeface="Arial"/>
              <a:buChar char="▪"/>
            </a:pPr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單機、檔案導向：無資料庫伺服器、無 Web API、無網路依賴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0E8C8B"/>
                </a:solidFill>
                <a:latin typeface="Consolas"/>
                <a:ea typeface="Microsoft JhengHei"/>
              </a:rPr>
              <a:t>02 ·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303F"/>
                </a:solidFill>
                <a:latin typeface="Microsoft JhengHei"/>
                <a:ea typeface="Microsoft JhengHei"/>
              </a:rPr>
              <a:t>資料庫設計 — CSV Schema 與資料流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採</a:t>
            </a:r>
            <a:r>
              <a:rPr sz="1250" b="1" i="0">
                <a:solidFill>
                  <a:srgbClr val="0E8C8B"/>
                </a:solidFill>
                <a:latin typeface="Microsoft JhengHei"/>
                <a:ea typeface="Microsoft JhengHei"/>
              </a:rPr>
              <a:t>檔案導向</a:t>
            </a:r>
            <a:r>
              <a:rPr sz="1250" b="0" i="0">
                <a:solidFill>
                  <a:srgbClr val="22303F"/>
                </a:solidFill>
                <a:latin typeface="Microsoft JhengHei"/>
                <a:ea typeface="Microsoft JhengHei"/>
              </a:rPr>
              <a:t>設計：以 CSV 作為持久層，不依賴外部資料庫伺服器，降低部署複雜度並貼合爬蟲批次輸出情境。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303F"/>
                </a:solidFill>
                <a:latin typeface="Microsoft JhengHei"/>
                <a:ea typeface="Microsoft JhengHei"/>
              </a:rPr>
              <a:t>輸入 — 爬蟲原始 CSV（11 欄）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39696"/>
            <a:ext cx="4937760" cy="1298448"/>
          </a:xfrm>
          <a:prstGeom prst="roundRect">
            <a:avLst>
              <a:gd name="adj" fmla="val 4500"/>
            </a:avLst>
          </a:prstGeom>
          <a:solidFill>
            <a:srgbClr val="15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2267712"/>
            <a:ext cx="82296" cy="82296"/>
          </a:xfrm>
          <a:prstGeom prst="ellipse">
            <a:avLst/>
          </a:prstGeom>
          <a:solidFill>
            <a:srgbClr val="E57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19" y="2267712"/>
            <a:ext cx="82296" cy="82296"/>
          </a:xfrm>
          <a:prstGeom prst="ellipse">
            <a:avLst/>
          </a:prstGeom>
          <a:solidFill>
            <a:srgbClr val="E5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2267712"/>
            <a:ext cx="82296" cy="82296"/>
          </a:xfrm>
          <a:prstGeom prst="ellips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68879"/>
            <a:ext cx="4480560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QS Rank,University,Country,GMAT,GRE,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GPA,IELTS,TOEFL,Duolingo,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Overall Score,URL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42432" y="2587752"/>
            <a:ext cx="603504" cy="384048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3035808"/>
            <a:ext cx="1097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8C8B"/>
                </a:solidFill>
                <a:latin typeface="Microsoft JhengHei"/>
                <a:ea typeface="Microsoft JhengHei"/>
              </a:rPr>
              <a:t>正規化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4708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303F"/>
                </a:solidFill>
                <a:latin typeface="Microsoft JhengHei"/>
                <a:ea typeface="Microsoft JhengHei"/>
              </a:rPr>
              <a:t>輸出 — 標準化 CSV（5 欄）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139696"/>
            <a:ext cx="5056632" cy="1298448"/>
          </a:xfrm>
          <a:prstGeom prst="roundRect">
            <a:avLst>
              <a:gd name="adj" fmla="val 4500"/>
            </a:avLst>
          </a:prstGeom>
          <a:solidFill>
            <a:srgbClr val="15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56831" y="2267712"/>
            <a:ext cx="82296" cy="82296"/>
          </a:xfrm>
          <a:prstGeom prst="ellipse">
            <a:avLst/>
          </a:prstGeom>
          <a:solidFill>
            <a:srgbClr val="E57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12279" y="2267712"/>
            <a:ext cx="82296" cy="82296"/>
          </a:xfrm>
          <a:prstGeom prst="ellipse">
            <a:avLst/>
          </a:prstGeom>
          <a:solidFill>
            <a:srgbClr val="E5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67727" y="2267712"/>
            <a:ext cx="82296" cy="82296"/>
          </a:xfrm>
          <a:prstGeom prst="ellips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468879"/>
            <a:ext cx="4599432" cy="841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University,Country,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Rank Min,Rank Max,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Overall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576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303F"/>
                </a:solidFill>
                <a:latin typeface="Microsoft JhengHei"/>
                <a:ea typeface="Microsoft JhengHei"/>
              </a:rPr>
              <a:t>實際資料範例（前 → 後）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950208"/>
            <a:ext cx="10908792" cy="1078992"/>
          </a:xfrm>
          <a:prstGeom prst="roundRect">
            <a:avLst>
              <a:gd name="adj" fmla="val 4500"/>
            </a:avLst>
          </a:prstGeom>
          <a:solidFill>
            <a:srgbClr val="15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1" y="4078224"/>
            <a:ext cx="82296" cy="82296"/>
          </a:xfrm>
          <a:prstGeom prst="ellipse">
            <a:avLst/>
          </a:prstGeom>
          <a:solidFill>
            <a:srgbClr val="E57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0119" y="4078224"/>
            <a:ext cx="82296" cy="82296"/>
          </a:xfrm>
          <a:prstGeom prst="ellipse">
            <a:avLst/>
          </a:prstGeom>
          <a:solidFill>
            <a:srgbClr val="E5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15568" y="4078224"/>
            <a:ext cx="82296" cy="82296"/>
          </a:xfrm>
          <a:prstGeom prst="ellips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279392"/>
            <a:ext cx="1045159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C0564A"/>
                </a:solidFill>
                <a:latin typeface="Consolas"/>
                <a:ea typeface="Microsoft JhengHei"/>
              </a:rPr>
              <a:t>raw  | University of   California Berkeley (UCB)  , usa ,12 , 14 ,  91.7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3E0C3"/>
                </a:solidFill>
                <a:latin typeface="Consolas"/>
                <a:ea typeface="Microsoft JhengHei"/>
              </a:rPr>
              <a:t>norm | University of California Berkeley (Ucb),United States,12,14,91.70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30368"/>
            <a:ext cx="109087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spcAft>
                <a:spcPts val="700"/>
              </a:spcAft>
              <a:buClr>
                <a:srgbClr val="0E8C8B"/>
              </a:buClr>
              <a:buFont typeface="Arial"/>
              <a:buChar char="▪"/>
            </a:pPr>
            <a:r>
              <a:rPr sz="1200" b="0" i="0">
                <a:solidFill>
                  <a:srgbClr val="22303F"/>
                </a:solidFill>
                <a:latin typeface="Microsoft JhengHei"/>
                <a:ea typeface="Microsoft JhengHei"/>
              </a:rPr>
              <a:t>Reader 防衛機制：header 欄位數與欄名驗證（不符即拒絕載入）、RFC 4180 quoted CSV 解析、UTF-8 BOM 清理、不合法列略過</a:t>
            </a:r>
          </a:p>
          <a:p>
            <a:pPr algn="l" marL="164592" indent="-164592">
              <a:buClr>
                <a:srgbClr val="0E8C8B"/>
              </a:buClr>
              <a:buFont typeface="Arial"/>
              <a:buChar char="▪"/>
            </a:pPr>
            <a:r>
              <a:rPr sz="1200" b="0" i="0">
                <a:solidFill>
                  <a:srgbClr val="22303F"/>
                </a:solidFill>
                <a:latin typeface="Microsoft JhengHei"/>
                <a:ea typeface="Microsoft JhengHei"/>
              </a:rPr>
              <a:t>Writer 輸出保障：必要時自動 quoting / escaping，數值欄固定 %.2f 格式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0E8C8B"/>
                </a:solidFill>
                <a:latin typeface="Consolas"/>
                <a:ea typeface="Microsoft JhengHei"/>
              </a:rPr>
              <a:t>02 · 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303F"/>
                </a:solidFill>
                <a:latin typeface="Microsoft JhengHei"/>
                <a:ea typeface="Microsoft JhengHei"/>
              </a:rPr>
              <a:t>資料庫設計 — 核心資料結構與對照表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5440680" cy="3840480"/>
          </a:xfrm>
          <a:prstGeom prst="roundRect">
            <a:avLst>
              <a:gd name="adj" fmla="val 4500"/>
            </a:avLst>
          </a:prstGeom>
          <a:solidFill>
            <a:srgbClr val="15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1609344"/>
            <a:ext cx="82296" cy="82296"/>
          </a:xfrm>
          <a:prstGeom prst="ellipse">
            <a:avLst/>
          </a:prstGeom>
          <a:solidFill>
            <a:srgbClr val="E57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19" y="1609344"/>
            <a:ext cx="82296" cy="82296"/>
          </a:xfrm>
          <a:prstGeom prst="ellipse">
            <a:avLst/>
          </a:prstGeom>
          <a:solidFill>
            <a:srgbClr val="E5C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609344"/>
            <a:ext cx="82296" cy="82296"/>
          </a:xfrm>
          <a:prstGeom prst="ellipse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49834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E93A8"/>
                </a:solidFill>
                <a:latin typeface="Consolas"/>
                <a:ea typeface="Microsoft JhengHei"/>
              </a:rPr>
              <a:t>/* include/record.h */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typedef struct {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E93A8"/>
                </a:solidFill>
                <a:latin typeface="Consolas"/>
                <a:ea typeface="Microsoft JhengHei"/>
              </a:rPr>
              <a:t>    /* Raw input fields */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    char raw_name[150];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    char raw_country[80];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    char raw_rank[50];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    char raw_score[50];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7E93A8"/>
                </a:solidFill>
                <a:latin typeface="Consolas"/>
                <a:ea typeface="Microsoft JhengHei"/>
              </a:rPr>
              <a:t>    /* Normalized fields */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    char normalized_name[150];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    char normalized_country[80];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3E0C3"/>
                </a:solidFill>
                <a:latin typeface="Consolas"/>
                <a:ea typeface="Microsoft JhengHei"/>
              </a:rPr>
              <a:t>    int    rank_min, rank_max;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3E0C3"/>
                </a:solidFill>
                <a:latin typeface="Consolas"/>
                <a:ea typeface="Microsoft JhengHei"/>
              </a:rPr>
              <a:t>    double score;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} UniversityRecord;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68112"/>
            <a:ext cx="5440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F6E7D"/>
                </a:solidFill>
                <a:latin typeface="Microsoft JhengHei"/>
                <a:ea typeface="Microsoft JhengHei"/>
              </a:rPr>
              <a:t>raw 與 normalized 欄位並存於同一筆紀錄，便於前後對照、預覽與除錯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481328"/>
            <a:ext cx="5102352" cy="1481328"/>
          </a:xfrm>
          <a:prstGeom prst="roundRect">
            <a:avLst>
              <a:gd name="adj" fmla="val 6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481328"/>
            <a:ext cx="64008" cy="1481328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160934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303F"/>
                </a:solidFill>
                <a:latin typeface="Microsoft JhengHei"/>
                <a:ea typeface="Microsoft JhengHei"/>
              </a:rPr>
              <a:t>國家別名對照表 mapping_table[]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1938528"/>
            <a:ext cx="4663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F6E7D"/>
                </a:solidFill>
                <a:latin typeface="Microsoft JhengHei"/>
                <a:ea typeface="Microsoft JhengHei"/>
              </a:rPr>
              <a:t>靜態 key → value 查表：先 normalize_basic（去標點、轉小寫、壓縮空白）再比對；涵蓋縮寫（U.S.A.）、官方長名（Federal Republic of Germany）與「The X」變體，38+ 條目（Session 6 擴充）。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108960"/>
            <a:ext cx="5102352" cy="1481328"/>
          </a:xfrm>
          <a:prstGeom prst="roundRect">
            <a:avLst>
              <a:gd name="adj" fmla="val 6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3108960"/>
            <a:ext cx="64008" cy="1481328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323697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303F"/>
                </a:solidFill>
                <a:latin typeface="Microsoft JhengHei"/>
                <a:ea typeface="Microsoft JhengHei"/>
              </a:rPr>
              <a:t>排名區間表示 rank_min / rank_max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3566160"/>
            <a:ext cx="4663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F6E7D"/>
                </a:solidFill>
                <a:latin typeface="Microsoft JhengHei"/>
                <a:ea typeface="Microsoft JhengHei"/>
              </a:rPr>
              <a:t>以兩個整數欄位統一表達單值與區間：53 → [53,53]；101-150 → [101,150]；Top 100 → [1,100]，下游可直接做數值比較。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736592"/>
            <a:ext cx="5102352" cy="1481328"/>
          </a:xfrm>
          <a:prstGeom prst="roundRect">
            <a:avLst>
              <a:gd name="adj" fmla="val 6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4736592"/>
            <a:ext cx="64008" cy="1481328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864607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303F"/>
                </a:solidFill>
                <a:latin typeface="Microsoft JhengHei"/>
                <a:ea typeface="Microsoft JhengHei"/>
              </a:rPr>
              <a:t>哨兵值設計 score = -1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5193792"/>
            <a:ext cx="46634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0" i="0">
                <a:solidFill>
                  <a:srgbClr val="5F6E7D"/>
                </a:solidFill>
                <a:latin typeface="Microsoft JhengHei"/>
                <a:ea typeface="Microsoft JhengHei"/>
              </a:rPr>
              <a:t>無法解析的分數標記為 -1，由 writer 層轉為空欄位輸出，避免髒資料混入下游統計。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0E8C8B"/>
                </a:solidFill>
                <a:latin typeface="Consolas"/>
                <a:ea typeface="Microsoft JhengHei"/>
              </a:rPr>
              <a:t>03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303F"/>
                </a:solidFill>
                <a:latin typeface="Microsoft JhengHei"/>
                <a:ea typeface="Microsoft JhengHei"/>
              </a:rPr>
              <a:t>實作 — 系統架構與模組分工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58568"/>
            <a:ext cx="1097280" cy="914400"/>
          </a:xfrm>
          <a:prstGeom prst="roundRect">
            <a:avLst>
              <a:gd name="adj" fmla="val 7000"/>
            </a:avLst>
          </a:prstGeom>
          <a:solidFill>
            <a:srgbClr val="F3F7F9"/>
          </a:solidFill>
          <a:ln w="1270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2258568"/>
            <a:ext cx="9875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2303F"/>
                </a:solidFill>
                <a:latin typeface="Consolas"/>
                <a:ea typeface="Microsoft JhengHei"/>
              </a:rPr>
              <a:t>raw_*.csv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F6E7D"/>
                </a:solidFill>
                <a:latin typeface="Microsoft JhengHei"/>
                <a:ea typeface="Microsoft JhengHei"/>
              </a:rPr>
              <a:t>爬蟲輸出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755648" y="2587751"/>
            <a:ext cx="219456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93391" y="2258568"/>
            <a:ext cx="1645920" cy="914400"/>
          </a:xfrm>
          <a:prstGeom prst="roundRect">
            <a:avLst>
              <a:gd name="adj" fmla="val 7000"/>
            </a:avLst>
          </a:prstGeom>
          <a:solidFill>
            <a:srgbClr val="F3F7F9"/>
          </a:solidFill>
          <a:ln w="1270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48255" y="2258568"/>
            <a:ext cx="15361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2303F"/>
                </a:solidFill>
                <a:latin typeface="Consolas"/>
                <a:ea typeface="Microsoft JhengHei"/>
              </a:rPr>
              <a:t>csv_reader.c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F6E7D"/>
                </a:solidFill>
                <a:latin typeface="Microsoft JhengHei"/>
                <a:ea typeface="Microsoft JhengHei"/>
              </a:rPr>
              <a:t>header 驗證 / BOM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57599" y="2587751"/>
            <a:ext cx="219456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95344" y="2258568"/>
            <a:ext cx="1737360" cy="914400"/>
          </a:xfrm>
          <a:prstGeom prst="roundRect">
            <a:avLst>
              <a:gd name="adj" fmla="val 7000"/>
            </a:avLst>
          </a:prstGeom>
          <a:solidFill>
            <a:srgbClr val="F3F7F9"/>
          </a:solidFill>
          <a:ln w="1270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7" y="2258568"/>
            <a:ext cx="162763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2303F"/>
                </a:solidFill>
                <a:latin typeface="Consolas"/>
                <a:ea typeface="Microsoft JhengHei"/>
              </a:rPr>
              <a:t>UniversityRecord[]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F6E7D"/>
                </a:solidFill>
                <a:latin typeface="Microsoft JhengHei"/>
                <a:ea typeface="Microsoft JhengHei"/>
              </a:rPr>
              <a:t>記憶體陣列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50992" y="2587751"/>
            <a:ext cx="219456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88736" y="1517904"/>
            <a:ext cx="2103120" cy="2395728"/>
          </a:xfrm>
          <a:prstGeom prst="roundRect">
            <a:avLst>
              <a:gd name="adj" fmla="val 5000"/>
            </a:avLst>
          </a:prstGeom>
          <a:solidFill>
            <a:srgbClr val="E8F4F2"/>
          </a:solidFill>
          <a:ln w="15240">
            <a:solidFill>
              <a:srgbClr val="0E8C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88736" y="1627631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E8C8B"/>
                </a:solidFill>
                <a:latin typeface="Consolas"/>
                <a:ea typeface="Microsoft JhengHei"/>
              </a:rPr>
              <a:t>normalizer.c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25896" y="1975104"/>
            <a:ext cx="1828799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25896" y="2048256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2303F"/>
                </a:solidFill>
                <a:latin typeface="Consolas"/>
                <a:ea typeface="Microsoft JhengHei"/>
              </a:rPr>
              <a:t>name_normalizer.c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5896" y="2441448"/>
            <a:ext cx="1828799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25896" y="2514600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2303F"/>
                </a:solidFill>
                <a:latin typeface="Consolas"/>
                <a:ea typeface="Microsoft JhengHei"/>
              </a:rPr>
              <a:t>country_normalizer.c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25896" y="2907792"/>
            <a:ext cx="1828799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25896" y="2980944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2303F"/>
                </a:solidFill>
                <a:latin typeface="Consolas"/>
                <a:ea typeface="Microsoft JhengHei"/>
              </a:rPr>
              <a:t>rank_parser.c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25896" y="3374136"/>
            <a:ext cx="1828799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25896" y="3447288"/>
            <a:ext cx="18287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22303F"/>
                </a:solidFill>
                <a:latin typeface="Consolas"/>
                <a:ea typeface="Microsoft JhengHei"/>
              </a:rPr>
              <a:t>score_parser.c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010144" y="2587751"/>
            <a:ext cx="219456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47888" y="2258568"/>
            <a:ext cx="1645920" cy="914400"/>
          </a:xfrm>
          <a:prstGeom prst="roundRect">
            <a:avLst>
              <a:gd name="adj" fmla="val 7000"/>
            </a:avLst>
          </a:prstGeom>
          <a:solidFill>
            <a:srgbClr val="F3F7F9"/>
          </a:solidFill>
          <a:ln w="1270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2258568"/>
            <a:ext cx="15361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2303F"/>
                </a:solidFill>
                <a:latin typeface="Consolas"/>
                <a:ea typeface="Microsoft JhengHei"/>
              </a:rPr>
              <a:t>csv_writer.c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F6E7D"/>
                </a:solidFill>
                <a:latin typeface="Microsoft JhengHei"/>
                <a:ea typeface="Microsoft JhengHei"/>
              </a:rPr>
              <a:t>quoting / escaping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912096" y="2587751"/>
            <a:ext cx="219456" cy="256032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149840" y="2258568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3F7F9"/>
          </a:solidFill>
          <a:ln w="1270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04704" y="2258568"/>
            <a:ext cx="13075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2303F"/>
                </a:solidFill>
                <a:latin typeface="Consolas"/>
                <a:ea typeface="Microsoft JhengHei"/>
              </a:rPr>
              <a:t>normalized_*.csv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5F6E7D"/>
                </a:solidFill>
                <a:latin typeface="Microsoft JhengHei"/>
                <a:ea typeface="Microsoft JhengHei"/>
              </a:rPr>
              <a:t>標準化輸出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70832"/>
            <a:ext cx="5394960" cy="1627632"/>
          </a:xfrm>
          <a:prstGeom prst="roundRect">
            <a:avLst>
              <a:gd name="adj" fmla="val 5000"/>
            </a:avLst>
          </a:prstGeom>
          <a:solidFill>
            <a:srgbClr val="152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5354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63E0C3"/>
                </a:solidFill>
                <a:latin typeface="Consolas"/>
                <a:ea typeface="Microsoft JhengHei"/>
              </a:rPr>
              <a:t>互動式 CLI — src/main.c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882896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1 載入＋顯示原始   2 正規化＋顯示結果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BFEFE3"/>
                </a:solidFill>
                <a:latin typeface="Consolas"/>
                <a:ea typeface="Microsoft JhengHei"/>
              </a:rPr>
              <a:t>3 匯出 CSV＋自動離開   0 離開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E93A8"/>
                </a:solidFill>
                <a:latin typeface="Microsoft JhengHei"/>
                <a:ea typeface="Microsoft JhengHei"/>
              </a:rPr>
              <a:t>同步複合動作設計；狀態防呆擋下未就緒操作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4370832"/>
            <a:ext cx="5102352" cy="1627632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453542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303F"/>
                </a:solidFill>
                <a:latin typeface="Microsoft JhengHei"/>
                <a:ea typeface="Microsoft JhengHei"/>
              </a:rPr>
              <a:t>共用工具與建置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882896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100" b="1" i="0">
                <a:solidFill>
                  <a:srgbClr val="0E8C8B"/>
                </a:solidFill>
                <a:latin typeface="Consolas"/>
                <a:ea typeface="Microsoft JhengHei"/>
              </a:rPr>
              <a:t>utils.c</a:t>
            </a:r>
            <a:r>
              <a:rPr sz="1100" b="0" i="0">
                <a:solidFill>
                  <a:srgbClr val="22303F"/>
                </a:solidFill>
                <a:latin typeface="Microsoft JhengHei"/>
                <a:ea typeface="Microsoft JhengHei"/>
              </a:rPr>
              <a:t>：trim、collapse spaces、title case、縮寫（MIT / ETH / KAUST）偵測</a:t>
            </a:r>
          </a:p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E8C8B"/>
                </a:solidFill>
                <a:latin typeface="Consolas"/>
                <a:ea typeface="Microsoft JhengHei"/>
              </a:rPr>
              <a:t>Makefile</a:t>
            </a:r>
            <a:r>
              <a:rPr sz="1100" b="0" i="0">
                <a:solidFill>
                  <a:srgbClr val="22303F"/>
                </a:solidFill>
                <a:latin typeface="Microsoft JhengHei"/>
                <a:ea typeface="Microsoft JhengHei"/>
              </a:rPr>
              <a:t>：make run 互動執行 · make test 單元測試 · 測試套件一鍵建置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0E8C8B"/>
                </a:solidFill>
                <a:latin typeface="Consolas"/>
                <a:ea typeface="Microsoft JhengHei"/>
              </a:rPr>
              <a:t>03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303F"/>
                </a:solidFill>
                <a:latin typeface="Microsoft JhengHei"/>
                <a:ea typeface="Microsoft JhengHei"/>
              </a:rPr>
              <a:t>實作 — Windows 實際執行畫面</a:t>
            </a:r>
          </a:p>
        </p:txBody>
      </p:sp>
      <p:pic>
        <p:nvPicPr>
          <p:cNvPr id="5" name="Picture 4" descr="run-build-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349240" cy="2841784"/>
          </a:xfrm>
          <a:prstGeom prst="rect">
            <a:avLst/>
          </a:prstGeom>
        </p:spPr>
      </p:pic>
      <p:pic>
        <p:nvPicPr>
          <p:cNvPr id="6" name="Picture 5" descr="run-normalize-ex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554480"/>
            <a:ext cx="5349240" cy="28417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52628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build.ps1 編譯（清空舊輸出）→ 選項 1 載入並顯示原始資料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4526280"/>
            <a:ext cx="5349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選項 2 正規化並顯示結果 → 選項 3 匯出後自動離開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138928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276088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2303F"/>
                </a:solidFill>
                <a:latin typeface="Microsoft JhengHei"/>
                <a:ea typeface="Microsoft JhengHei"/>
              </a:rPr>
              <a:t>完整 demo 流程僅需三個輸入：</a:t>
            </a:r>
            <a:r>
              <a:rPr sz="1250" b="1" i="0">
                <a:solidFill>
                  <a:srgbClr val="0E8C8B"/>
                </a:solidFill>
                <a:latin typeface="Consolas"/>
                <a:ea typeface="Microsoft JhengHei"/>
              </a:rPr>
              <a:t>1 → 2 → 3</a:t>
            </a:r>
            <a:r>
              <a:rPr sz="1250" b="1" i="0">
                <a:solidFill>
                  <a:srgbClr val="22303F"/>
                </a:solidFill>
                <a:latin typeface="Microsoft JhengHei"/>
                <a:ea typeface="Microsoft JhengHei"/>
              </a:rPr>
              <a:t>，即完成載入、正規化、匯出並自動離開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0E8C8B"/>
                </a:solidFill>
                <a:latin typeface="Consolas"/>
                <a:ea typeface="Microsoft JhengHei"/>
              </a:rPr>
              <a:t>03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303F"/>
                </a:solidFill>
                <a:latin typeface="Microsoft JhengHei"/>
                <a:ea typeface="Microsoft JhengHei"/>
              </a:rPr>
              <a:t>實作 — 正規化規則與實例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908792" cy="4443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4572000"/>
                <a:gridCol w="5148072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模組</a:t>
                      </a:r>
                    </a:p>
                  </a:txBody>
                  <a:tcPr marL="128016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原始輸入（raw）</a:t>
                      </a:r>
                    </a:p>
                  </a:txBody>
                  <a:tcPr marL="128016" marR="73152" marT="27432" marB="27432" anchor="ctr"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正規化輸出（normalized）</a:t>
                      </a:r>
                    </a:p>
                  </a:txBody>
                  <a:tcPr marL="128016" marR="73152" marT="27432" marB="27432" anchor="ctr">
                    <a:solidFill>
                      <a:srgbClr val="1B2A41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名稱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University of   California Berkeley (UCB)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University of California Berkeley (Ucb)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名稱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KAUST · hkust · eth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KAUST · HKUST · ETH（知名縮寫保留全大寫）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國家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usa · U.S.A. · UK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United States · United Kingdom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國家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The Netherlands · PR China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Netherlands · China (Mainland)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排名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Top 100 · #10 · =201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[1,100] · [10,10] · [201,201]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排名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101-150 · 150-101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[101,150]（反轉區間自動交換）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分數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" 91.7 " · ".5"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91.70 · 0.50（前導小數點修正）</a:t>
                      </a:r>
                    </a:p>
                  </a:txBody>
                  <a:tcPr marL="128016" marR="73152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0E8C8B"/>
                          </a:solidFill>
                          <a:latin typeface="Microsoft JhengHei"/>
                          <a:ea typeface="Microsoft JhengHei"/>
                        </a:rPr>
                        <a:t>分數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C0564A"/>
                          </a:solidFill>
                          <a:latin typeface="Consolas"/>
                          <a:ea typeface="Microsoft JhengHei"/>
                        </a:rPr>
                        <a:t>"" · "N/A" · "abc"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303F"/>
                          </a:solidFill>
                          <a:latin typeface="Consolas"/>
                          <a:ea typeface="Microsoft JhengHei"/>
                        </a:rPr>
                        <a:t>-1（哨兵值 → 輸出層轉空欄）</a:t>
                      </a:r>
                    </a:p>
                  </a:txBody>
                  <a:tcPr marL="128016" marR="73152" marT="27432" marB="27432" anchor="ctr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053328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E7D"/>
                </a:solidFill>
                <a:latin typeface="Microsoft JhengHei"/>
                <a:ea typeface="Microsoft JhengHei"/>
              </a:rPr>
              <a:t>規則涵蓋 6 種排名格式、大小寫不敏感比對（"TOP 100" ≡ "Top 100"），並拒絕負數排名、TOP 0 與整數溢位（strtol + 上限防護）。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0E8C8B"/>
                </a:solidFill>
                <a:latin typeface="Consolas"/>
                <a:ea typeface="Microsoft JhengHei"/>
              </a:rPr>
              <a:t>03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303F"/>
                </a:solidFill>
                <a:latin typeface="Microsoft JhengHei"/>
                <a:ea typeface="Microsoft JhengHei"/>
              </a:rPr>
              <a:t>實作 — 弱點導向測試與驗證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90472"/>
            <a:ext cx="118872" cy="118872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40360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2303F"/>
                </a:solidFill>
                <a:latin typeface="Microsoft JhengHei"/>
                <a:ea typeface="Microsoft JhengHei"/>
              </a:rPr>
              <a:t>測試方法論（每輪 Session）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47088"/>
            <a:ext cx="475488" cy="47548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15668"/>
            <a:ext cx="47548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FD0B6"/>
                </a:solidFill>
                <a:latin typeface="Consolas"/>
                <a:ea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82880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2303F"/>
                </a:solidFill>
                <a:latin typeface="Microsoft JhengHei"/>
                <a:ea typeface="Microsoft JhengHei"/>
              </a:rPr>
              <a:t>靜態分析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10312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通讀模組程式碼，標記可疑邏輯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475488" cy="47548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28900"/>
            <a:ext cx="47548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FD0B6"/>
                </a:solidFill>
                <a:latin typeface="Consolas"/>
                <a:ea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54203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2303F"/>
                </a:solidFill>
                <a:latin typeface="Microsoft JhengHei"/>
                <a:ea typeface="Microsoft JhengHei"/>
              </a:rPr>
              <a:t>探針程式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81635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撰寫 probe 重現可疑行為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73552"/>
            <a:ext cx="475488" cy="47548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42132"/>
            <a:ext cx="47548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FD0B6"/>
                </a:solidFill>
                <a:latin typeface="Consolas"/>
                <a:ea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25526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2303F"/>
                </a:solidFill>
                <a:latin typeface="Microsoft JhengHei"/>
                <a:ea typeface="Microsoft JhengHei"/>
              </a:rPr>
              <a:t>修正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52958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最小修改修復根因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86783"/>
            <a:ext cx="475488" cy="47548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55363"/>
            <a:ext cx="47548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FD0B6"/>
                </a:solidFill>
                <a:latin typeface="Consolas"/>
                <a:ea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96849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2303F"/>
                </a:solidFill>
                <a:latin typeface="Microsoft JhengHei"/>
                <a:ea typeface="Microsoft JhengHei"/>
              </a:rPr>
              <a:t>回歸驗證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24281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F6E7D"/>
                </a:solidFill>
                <a:latin typeface="Microsoft JhengHei"/>
                <a:ea typeface="Microsoft JhengHei"/>
              </a:rPr>
              <a:t>新增 regression 套件全量重跑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64608"/>
            <a:ext cx="5394960" cy="1170432"/>
          </a:xfrm>
          <a:prstGeom prst="roundRect">
            <a:avLst>
              <a:gd name="adj" fmla="val 6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864608"/>
            <a:ext cx="64008" cy="1170432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992624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2303F"/>
                </a:solidFill>
                <a:latin typeface="Microsoft JhengHei"/>
                <a:ea typeface="Microsoft JhengHei"/>
              </a:rPr>
              <a:t>累計 6 輪 Session、17 項修正（A–T）</a:t>
            </a:r>
          </a:p>
          <a:p>
            <a:pPr algn="l"/>
            <a:r>
              <a:rPr sz="1050" b="0" i="0">
                <a:solidFill>
                  <a:srgbClr val="5F6E7D"/>
                </a:solidFill>
                <a:latin typeface="Consolas"/>
                <a:ea typeface="Microsoft JhengHei"/>
              </a:rPr>
              <a:t>例：Fix S — parse_score(".5") 誤判為 5.0 → 修正為 0.5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389888"/>
            <a:ext cx="510235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0E8C8B"/>
                </a:solidFill>
                <a:latin typeface="Consolas"/>
                <a:ea typeface="Microsoft JhengHei"/>
              </a:rPr>
              <a:t>602 / 602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212848"/>
            <a:ext cx="5102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2303F"/>
                </a:solidFill>
                <a:latin typeface="Microsoft JhengHei"/>
                <a:ea typeface="Microsoft JhengHei"/>
              </a:rPr>
              <a:t>九個測試套件全數通過（make test_all）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670048"/>
            <a:ext cx="5102352" cy="457200"/>
          </a:xfrm>
          <a:prstGeom prst="rect">
            <a:avLst/>
          </a:prstGeom>
          <a:solidFill>
            <a:srgbClr val="F3F7F9"/>
          </a:solidFill>
          <a:ln w="635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76148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303F"/>
                </a:solidFill>
                <a:latin typeface="Consolas"/>
                <a:ea typeface="Microsoft JhengHei"/>
              </a:rPr>
              <a:t>test_normalizer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57232" y="276148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0E8C8B"/>
                </a:solidFill>
                <a:latin typeface="Consolas"/>
                <a:ea typeface="Microsoft JhengHei"/>
              </a:rPr>
              <a:t>17 / 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218688"/>
            <a:ext cx="51023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31012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303F"/>
                </a:solidFill>
                <a:latin typeface="Consolas"/>
                <a:ea typeface="Microsoft JhengHei"/>
              </a:rPr>
              <a:t>test_extreme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331012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0E8C8B"/>
                </a:solidFill>
                <a:latin typeface="Consolas"/>
                <a:ea typeface="Microsoft JhengHei"/>
              </a:rPr>
              <a:t>139 / 139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3767328"/>
            <a:ext cx="5102352" cy="457200"/>
          </a:xfrm>
          <a:prstGeom prst="rect">
            <a:avLst/>
          </a:prstGeom>
          <a:solidFill>
            <a:srgbClr val="F3F7F9"/>
          </a:solidFill>
          <a:ln w="635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385876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303F"/>
                </a:solidFill>
                <a:latin typeface="Consolas"/>
                <a:ea typeface="Microsoft JhengHei"/>
              </a:rPr>
              <a:t>test_scale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385876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0E8C8B"/>
                </a:solidFill>
                <a:latin typeface="Consolas"/>
                <a:ea typeface="Microsoft JhengHei"/>
              </a:rPr>
              <a:t>31 / 31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315968"/>
            <a:ext cx="510235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407407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303F"/>
                </a:solidFill>
                <a:latin typeface="Consolas"/>
                <a:ea typeface="Microsoft JhengHei"/>
              </a:rPr>
              <a:t>test_weakness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7232" y="4407407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0E8C8B"/>
                </a:solidFill>
                <a:latin typeface="Consolas"/>
                <a:ea typeface="Microsoft JhengHei"/>
              </a:rPr>
              <a:t>43 / 43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46520" y="4864608"/>
            <a:ext cx="5102352" cy="457200"/>
          </a:xfrm>
          <a:prstGeom prst="rect">
            <a:avLst/>
          </a:prstGeom>
          <a:solidFill>
            <a:srgbClr val="F3F7F9"/>
          </a:solidFill>
          <a:ln w="6350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9560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303F"/>
                </a:solidFill>
                <a:latin typeface="Consolas"/>
                <a:ea typeface="Microsoft JhengHei"/>
              </a:rPr>
              <a:t>test_regression2 –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7232" y="495604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0E8C8B"/>
                </a:solidFill>
                <a:latin typeface="Consolas"/>
                <a:ea typeface="Microsoft JhengHei"/>
              </a:rPr>
              <a:t>372 / 372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5413248"/>
            <a:ext cx="5102352" cy="512064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552297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</a:rPr>
              <a:t>合計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57232" y="5522976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3FD0B6"/>
                </a:solidFill>
                <a:latin typeface="Consolas"/>
                <a:ea typeface="Microsoft JhengHei"/>
              </a:rPr>
              <a:t>602 / 602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0E8C8B"/>
                </a:solidFill>
                <a:latin typeface="Consolas"/>
                <a:ea typeface="Microsoft JhengHei"/>
              </a:rPr>
              <a:t>04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22303F"/>
                </a:solidFill>
                <a:latin typeface="Microsoft JhengHei"/>
                <a:ea typeface="Microsoft JhengHei"/>
              </a:rPr>
              <a:t>結論 — 成果、限制與未來工作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3511296" cy="393192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81328"/>
            <a:ext cx="3511296" cy="566928"/>
          </a:xfrm>
          <a:prstGeom prst="rect">
            <a:avLst/>
          </a:prstGeom>
          <a:solidFill>
            <a:srgbClr val="0E8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9344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主要成果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86000"/>
            <a:ext cx="299923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0E8C8B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完成 C11 正規化引擎：reader → 四大解析模組 → writer 完整 pipeline</a:t>
            </a:r>
          </a:p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0E8C8B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602 項單元／回歸測試全數通過，涵蓋極端值、規模與弱點情境</a:t>
            </a:r>
          </a:p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0E8C8B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6 輪弱點導向修正（A–T 共 17 項）建立回歸防護網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481328"/>
            <a:ext cx="3511296" cy="393192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1481328"/>
            <a:ext cx="3511296" cy="566928"/>
          </a:xfrm>
          <a:prstGeom prst="rect">
            <a:avLst/>
          </a:prstGeom>
          <a:solidFill>
            <a:srgbClr val="C05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609344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已知限制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86000"/>
            <a:ext cx="299923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C0564A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ASCII-only：É / ä / ã 等非 ASCII 字元直接傳遞，不做 Unicode 正規化</a:t>
            </a:r>
          </a:p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C0564A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requirement_parser 尚未實作（GMAT / GRE / GPA / IELTS / TOEFL / Duolingo）</a:t>
            </a:r>
          </a:p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C0564A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%.2f 捨入：99.999 輸出為 100.00（超出滿分）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481328"/>
            <a:ext cx="3511296" cy="3931920"/>
          </a:xfrm>
          <a:prstGeom prst="roundRect">
            <a:avLst>
              <a:gd name="adj" fmla="val 5000"/>
            </a:avLst>
          </a:prstGeom>
          <a:solidFill>
            <a:srgbClr val="F3F7F9"/>
          </a:solidFill>
          <a:ln w="9525">
            <a:solidFill>
              <a:srgbClr val="D8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1" y="1481328"/>
            <a:ext cx="3511296" cy="566928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609344"/>
            <a:ext cx="3054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未來工作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3" y="2286000"/>
            <a:ext cx="299923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1B2A41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引入 utf8proc / ICU 處理非 ASCII 字元正規化</a:t>
            </a:r>
          </a:p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1B2A41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國家別名表外部化：從 mapping 檔載入，取代硬編碼</a:t>
            </a:r>
          </a:p>
          <a:p>
            <a:pPr algn="l" marL="164592" indent="-164592">
              <a:lnSpc>
                <a:spcPct val="122000"/>
              </a:lnSpc>
              <a:spcAft>
                <a:spcPts val="1000"/>
              </a:spcAft>
              <a:buClr>
                <a:srgbClr val="1B2A41"/>
              </a:buClr>
              <a:buFont typeface="Arial"/>
              <a:buChar char="▪"/>
            </a:pPr>
            <a:r>
              <a:rPr sz="1150" b="0" i="0">
                <a:solidFill>
                  <a:srgbClr val="22303F"/>
                </a:solidFill>
                <a:latin typeface="Microsoft JhengHei"/>
                <a:ea typeface="Microsoft JhengHei"/>
              </a:rPr>
              <a:t>CI 整合（爬蟲 → 引擎 → 資料庫）並提供 libnormalizer 函式庫介面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50992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788152"/>
            <a:ext cx="1090879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3FD0B6"/>
                </a:solidFill>
                <a:latin typeface="Microsoft JhengHei"/>
                <a:ea typeface="Microsoft JhengHei"/>
              </a:rPr>
              <a:t>以小而可驗證的 C 核心，換取資料管線中可預期的正規化行為。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F6E7D"/>
                </a:solidFill>
                <a:latin typeface="Consolas"/>
                <a:ea typeface="Microsoft JhengHe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60">
                <a:solidFill>
                  <a:srgbClr val="3FD0B6"/>
                </a:solidFill>
                <a:latin typeface="Consolas"/>
                <a:ea typeface="Microsoft JhengHe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Microsoft JhengHei"/>
                <a:ea typeface="Microsoft JhengHei"/>
              </a:rPr>
              <a:t>參考文獻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73352"/>
            <a:ext cx="118872" cy="118872"/>
          </a:xfrm>
          <a:prstGeom prst="rect">
            <a:avLst/>
          </a:prstGeom>
          <a:solidFill>
            <a:srgbClr val="3FD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591056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排名資料來源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201168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QS World University Rankings — topuniversities.com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Times Higher Education (THE) World University Rankings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ShanghaiRanking / Academic Ranking of World Universities (ARWU)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73352"/>
            <a:ext cx="118872" cy="118872"/>
          </a:xfrm>
          <a:prstGeom prst="rect">
            <a:avLst/>
          </a:prstGeom>
          <a:solidFill>
            <a:srgbClr val="3FD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38544" y="1591056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技術標準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01168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ISO 3166-1 — 國家代碼標準（國家別名映射依據）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RFC 4180 — CSV 格式標準（quoting / escaping 規範）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Unicode UAX #15 — Unicode Normalization Forms（NFC / NFD）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67911"/>
            <a:ext cx="118872" cy="118872"/>
          </a:xfrm>
          <a:prstGeom prst="rect">
            <a:avLst/>
          </a:prstGeom>
          <a:solidFill>
            <a:srgbClr val="3FD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785615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語言與工具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420624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ISO/IEC 9899:2011 — C11 Language Standard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GCC Compiler Documentation（-Wall -Wextra）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GNU Make Manual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867911"/>
            <a:ext cx="118872" cy="118872"/>
          </a:xfrm>
          <a:prstGeom prst="rect">
            <a:avLst/>
          </a:prstGeom>
          <a:solidFill>
            <a:srgbClr val="3FD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3785615"/>
            <a:ext cx="4846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Microsoft JhengHei"/>
                <a:ea typeface="Microsoft JhengHei"/>
              </a:rPr>
              <a:t>專案內部文件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420624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README.md — 使用說明與驗證流程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c_engine/docs/architecture.md — 系統架構與資料流</a:t>
            </a:r>
          </a:p>
          <a:p>
            <a:pPr algn="l" marL="164592" indent="-164592">
              <a:lnSpc>
                <a:spcPct val="115000"/>
              </a:lnSpc>
              <a:spcAft>
                <a:spcPts val="700"/>
              </a:spcAft>
              <a:buClr>
                <a:srgbClr val="3FD0B6"/>
              </a:buClr>
              <a:buFont typeface="Arial"/>
              <a:buChar char="▪"/>
            </a:pPr>
            <a:r>
              <a:rPr sz="1100" b="0" i="0">
                <a:solidFill>
                  <a:srgbClr val="CADCFC"/>
                </a:solidFill>
                <a:latin typeface="Microsoft JhengHei"/>
                <a:ea typeface="Microsoft JhengHei"/>
              </a:rPr>
              <a:t>test-report.md — Session 1–6 累計測試報告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961888"/>
            <a:ext cx="10543032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E93A8"/>
                </a:solidFill>
                <a:latin typeface="Consolas"/>
                <a:ea typeface="Microsoft JhengHei"/>
              </a:rPr>
              <a:t>Thank You — 謝謝聆聽   |   Demo：2026.06.18 – 06.20   |   b11402037 高恩在 · b11402053 林秉學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onsolas"/>
                <a:ea typeface="Microsoft JhengHei"/>
              </a:rPr>
              <a:t>Clawer C Data Normalization Engine — b11402037 · b11402053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onsolas"/>
                <a:ea typeface="Microsoft Jheng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